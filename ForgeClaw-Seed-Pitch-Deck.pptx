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73152" cy="1828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ForgeClaw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Agent Composer for the MCP Ecosystem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AdaBoost AI  |  March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forgeclaw.io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Agent Ecosystem Is Broken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1,184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37744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Skills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77440" y="20116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ClawHavoc poisoned 20% of ClawHub registry with credential stealers and reverse shells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300K+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37744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Users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37744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users with no security scanning, no governance, no verified composition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490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37744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Composers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77440" y="42062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platform scans skills before composing them into agent workflows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→ Verify → Compose → Deploy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20240" cy="25603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💬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intent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7744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8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06040" y="1554480"/>
            <a:ext cx="1920240" cy="25603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7373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60604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06040" y="2743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architects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2628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54880" y="1554480"/>
            <a:ext cx="1920240" cy="25603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7373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5488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743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SAFE-MCP threat scans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03720" y="1554480"/>
            <a:ext cx="1920240" cy="25603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7373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0372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03720" y="2743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 / Zeebe / MCP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Tabs. One Platform.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SKILL.md → instant security report. 25 embedded patterns + VerifyClaw's 86-test deep scan pipeline.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8229600" cy="9601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6032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0175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Library shows all composed agents. Live VerifyClaw feed tracks ClawHavoc campaigns and threat categories.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5760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7160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14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intent → Claude designs skills → editable BPMN workflow → context-aware properties panel → Deploy to 5 targets.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Deploy Targets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design. Any infrastructure.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Docker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agent.py, Dockerfile, .env, docker-compose.yaml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402336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56032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8872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Zeebe Workers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job workers per BPMN task, orchestrated execution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402336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6576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88720" y="3749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manifests with HPA autoscaling, secrets, probes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402336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46304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🔌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claude_desktop_config.json with MCP server definitions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560320"/>
            <a:ext cx="4023360" cy="9144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56032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🦞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48640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Skill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+ package.json ready for ClawHub publishing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Visual Agent Design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modeler with context-aware properties panel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Database, API endpoint, auth headers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Task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Language, code editor, timeout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154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Task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Assignee, form fields, due date, priority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Task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email, webhook, SMS, Telegram, Discord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Task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Wait-for event, correlation key, timeout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28600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expressions per outgoing path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10896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154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Event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Cron, duration, fixed date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931920"/>
            <a:ext cx="4023360" cy="68580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 (if→then rules)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55448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$52.6B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Market by 2030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46.3% CAGR from $7.84B in 2025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023360" cy="155448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34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300K+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754880" y="1828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Active Users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180K+ GitHub stars, fastest-growing agent framework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023360" cy="155448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13,700+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ClawHub Skills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daily — needs security and composition layer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4023360" cy="155448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$180M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54880" y="3657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Valuation (March 2026)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977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comparable — visual agent workflow builder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Moat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VerifyClaw: the only security scanner for MCP skills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0" y="1627632"/>
            <a:ext cx="4114800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0" y="162763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0" y="1627632"/>
            <a:ext cx="4114800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412 skills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Poisoning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26080" y="2176272"/>
            <a:ext cx="2821577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Shape 9"/>
          <p:cNvSpPr/>
          <p:nvPr/>
        </p:nvSpPr>
        <p:spPr>
          <a:xfrm>
            <a:off x="2926080" y="217627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2" name="Shape 10"/>
          <p:cNvSpPr/>
          <p:nvPr/>
        </p:nvSpPr>
        <p:spPr>
          <a:xfrm>
            <a:off x="2926080" y="2176272"/>
            <a:ext cx="2821577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 skills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Escalation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2724912"/>
            <a:ext cx="1998617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6080" y="272491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2724912"/>
            <a:ext cx="1998617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skills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Shell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26080" y="3273552"/>
            <a:ext cx="1528354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2926080" y="327355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3273552"/>
            <a:ext cx="1528354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 skills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26080" y="3822192"/>
            <a:ext cx="822960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2926080" y="382219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27" name="Shape 25"/>
          <p:cNvSpPr/>
          <p:nvPr/>
        </p:nvSpPr>
        <p:spPr>
          <a:xfrm>
            <a:off x="2926080" y="3822192"/>
            <a:ext cx="822960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skills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297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Cryptomining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26080" y="4370832"/>
            <a:ext cx="470263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Shape 29"/>
          <p:cNvSpPr/>
          <p:nvPr/>
        </p:nvSpPr>
        <p:spPr>
          <a:xfrm>
            <a:off x="2926080" y="4370832"/>
            <a:ext cx="4114800" cy="2286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32" name="Shape 30"/>
          <p:cNvSpPr/>
          <p:nvPr/>
        </p:nvSpPr>
        <p:spPr>
          <a:xfrm>
            <a:off x="2926080" y="4370832"/>
            <a:ext cx="470263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0" y="4297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skills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3D2410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ClawHavoc: 1,184 malicious skills. 20% of registry. ForgeClaw is the only platform that blocks compromised skills before composition.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Competitive Landscape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41148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005840"/>
            <a:ext cx="1600200" cy="411480"/>
          </a:xfrm>
          <a:prstGeom prst="rect">
            <a:avLst/>
          </a:prstGeom>
          <a:solidFill>
            <a:srgbClr val="3D241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ForgeClaw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977640" y="1005840"/>
            <a:ext cx="1600200" cy="41148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8" name="Text 6"/>
          <p:cNvSpPr/>
          <p:nvPr/>
        </p:nvSpPr>
        <p:spPr>
          <a:xfrm>
            <a:off x="397764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1600200" cy="41148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60920" y="1005840"/>
            <a:ext cx="1600200" cy="41148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2" name="Text 10"/>
          <p:cNvSpPr/>
          <p:nvPr/>
        </p:nvSpPr>
        <p:spPr>
          <a:xfrm>
            <a:off x="736092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Camunda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design from intent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77640" y="1463040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18" name="Text 16"/>
          <p:cNvSpPr/>
          <p:nvPr/>
        </p:nvSpPr>
        <p:spPr>
          <a:xfrm>
            <a:off x="397764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0" y="1463040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60920" y="1463040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22" name="Text 20"/>
          <p:cNvSpPr/>
          <p:nvPr/>
        </p:nvSpPr>
        <p:spPr>
          <a:xfrm>
            <a:off x="736092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1892808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scanning (SAFE-MCP)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0" y="18928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77640" y="18928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69280" y="18928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60920" y="18928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2322576"/>
            <a:ext cx="18288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322576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BPMN editor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0" y="2322576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31" name="Text 29"/>
          <p:cNvSpPr/>
          <p:nvPr/>
        </p:nvSpPr>
        <p:spPr>
          <a:xfrm>
            <a:off x="2286000" y="232257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977640" y="2322576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33" name="Text 31"/>
          <p:cNvSpPr/>
          <p:nvPr/>
        </p:nvSpPr>
        <p:spPr>
          <a:xfrm>
            <a:off x="3977640" y="232257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669280" y="2322576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0" y="232257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360920" y="2322576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37" name="Text 35"/>
          <p:cNvSpPr/>
          <p:nvPr/>
        </p:nvSpPr>
        <p:spPr>
          <a:xfrm>
            <a:off x="7360920" y="232257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" y="2752344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deploy (5)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86000" y="275234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275234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69280" y="275234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60920" y="275234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7200" y="3182112"/>
            <a:ext cx="18288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182112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Zeebe orchestration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86000" y="3182112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46" name="Text 44"/>
          <p:cNvSpPr/>
          <p:nvPr/>
        </p:nvSpPr>
        <p:spPr>
          <a:xfrm>
            <a:off x="2286000" y="31821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977640" y="3182112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48" name="Text 46"/>
          <p:cNvSpPr/>
          <p:nvPr/>
        </p:nvSpPr>
        <p:spPr>
          <a:xfrm>
            <a:off x="3977640" y="31821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669280" y="3182112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0" y="31821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360920" y="3182112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52" name="Text 50"/>
          <p:cNvSpPr/>
          <p:nvPr/>
        </p:nvSpPr>
        <p:spPr>
          <a:xfrm>
            <a:off x="7360920" y="31821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457200" y="3611880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OpenClaw/MCP native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286000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3977640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669280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360920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457200" y="4041648"/>
            <a:ext cx="18288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properties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86000" y="4041648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61" name="Text 59"/>
          <p:cNvSpPr/>
          <p:nvPr/>
        </p:nvSpPr>
        <p:spPr>
          <a:xfrm>
            <a:off x="2286000" y="40416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3977640" y="4041648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63" name="Text 61"/>
          <p:cNvSpPr/>
          <p:nvPr/>
        </p:nvSpPr>
        <p:spPr>
          <a:xfrm>
            <a:off x="3977640" y="40416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5669280" y="4041648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65" name="Text 63"/>
          <p:cNvSpPr/>
          <p:nvPr/>
        </p:nvSpPr>
        <p:spPr>
          <a:xfrm>
            <a:off x="5669280" y="40416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360920" y="4041648"/>
            <a:ext cx="1600200" cy="411480"/>
          </a:xfrm>
          <a:prstGeom prst="rect">
            <a:avLst/>
          </a:prstGeom>
          <a:solidFill>
            <a:srgbClr val="0C1017"/>
          </a:solidFill>
          <a:ln/>
        </p:spPr>
      </p:sp>
      <p:sp>
        <p:nvSpPr>
          <p:cNvPr id="67" name="Text 65"/>
          <p:cNvSpPr/>
          <p:nvPr/>
        </p:nvSpPr>
        <p:spPr>
          <a:xfrm>
            <a:off x="7360920" y="40416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457200" y="4471416"/>
            <a:ext cx="182880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feed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2286000" y="447141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3977640" y="447141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5669280" y="447141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7360920" y="447141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14, React, bpmn-js (Camunda), D3.js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27632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276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62763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4, structured JSON output, agent design + code generation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5798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21579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VerifyClaw 86-test pipeline, SAFE-MCP framework, 25 embedded patterns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88336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68833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268833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Zeebe (Camunda), job workers per BPMN task, gRPC protocol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18688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2186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86000" y="3218688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(prod), in-memory graph (dev), Neo4j (VerifyClaw)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490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Kubernetes + HPA, Vercel, Blaxel, Cloudflare Tunnels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1645920" cy="438912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2793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42793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Quad (4x RTX 3070), Docker Compose, Cloudflare DNS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329184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E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22860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25-pattern scan, 3 agents/month, embedded scanner, community support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06040" y="1097280"/>
            <a:ext cx="1920240" cy="329184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06040" y="1645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E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$49/mo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0" y="22860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agents, full 86-test VerifyClaw scan, Zeebe orchestration, Slack/email alerts, 5 deploy targets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1920240" cy="329184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1645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E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$499/mo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ontology, private ClawHub, human-in-the-loop governance, SLA, dedicated support, K8s deployment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03720" y="1097280"/>
            <a:ext cx="1920240" cy="3291840"/>
          </a:xfrm>
          <a:prstGeom prst="rect">
            <a:avLst/>
          </a:prstGeom>
          <a:solidFill>
            <a:srgbClr val="0C1017"/>
          </a:solidFill>
          <a:ln w="6350">
            <a:solidFill>
              <a:srgbClr val="252E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x402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03720" y="1645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E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$0.05/query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040880" y="22860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Micropayment per scan via Circle USDC, autonomous AI agent access, pay-per-use model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Traction &amp; Milestones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ForgeClaw v2 live on Vercel + Docker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forgeclaw-app.vercel.app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4813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VerifyClaw deployed on Blaxel + Cloudflare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verifyclaw.io — 86-test security scanner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95681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 agent live on Ethereum mainnet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195681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mempool, Slack alerts, Docker deployed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43230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43230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agent composition working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243230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intent → design → BPMN → deploy pipeline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9077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2907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Zeebe worker generation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9077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job workers per BPMN task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3832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383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deploy targets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3383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Zeebe, K8s, Claude Desktop, OpenClaw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8587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858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+ Vercel production stack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mode: Docker local + Vercel production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3342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🔜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paying customers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880" y="4334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DeFi teams, OpenClaw power users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3D241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Raising $1.5M Seed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$8M pre-money valuation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822960" cy="4572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60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2560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2 engineers: Zeebe runtime + OpenClaw integrations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822960" cy="4572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1546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community, HN launch, SBC conference, content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822960" cy="4572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749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hosting, Zeebe clusters, API costs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822960" cy="457200"/>
          </a:xfrm>
          <a:prstGeom prst="rect">
            <a:avLst/>
          </a:prstGeom>
          <a:solidFill>
            <a:srgbClr val="141A2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6304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0" y="4343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12-month runway buffer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73152" cy="25603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Suvasis Mukherjee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CEO, AdaBoost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20+ years quantitative finance &amp; market microstructure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7249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MSCS Santa Clara University, AI/Data Mining certificate Stanford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07238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Enterprise software: Oracle, TIBCO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GPU/CUDA financial systems on 4x RTX 3070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67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Deep expertise: VPIN, Kyle's Lambda, Hawkes Processes, MEV detection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forgeclaw.io  |  verifyclaw.io  |  vectorblock.io  |  adaboost.ai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suvasis@adaboostai.com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8"/>
                </a:solidFill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ForgeClaw — Seed Round Pitch Deck</dc:title>
  <dc:subject>PptxGenJS Presentation</dc:subject>
  <dc:creator>Suvasis Mukherjee</dc:creator>
  <cp:lastModifiedBy>Suvasis Mukherjee</cp:lastModifiedBy>
  <cp:revision>1</cp:revision>
  <dcterms:created xsi:type="dcterms:W3CDTF">2026-03-26T20:38:01Z</dcterms:created>
  <dcterms:modified xsi:type="dcterms:W3CDTF">2026-03-26T20:38:01Z</dcterms:modified>
</cp:coreProperties>
</file>